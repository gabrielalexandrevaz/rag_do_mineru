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C8A951"/>
                </a:solidFill>
                <a:latin typeface="Calibri"/>
              </a:rPr>
              <a:t>LEITURA AUTOMATICA DO DIARIO OFICIAL</a:t>
            </a:r>
          </a:p>
          <a:p>
            <a:pPr algn="l">
              <a:spcBef>
                <a:spcPts val="1400"/>
              </a:spcBef>
            </a:pPr>
            <a:r>
              <a:rPr sz="5400" b="1" i="0">
                <a:solidFill>
                  <a:srgbClr val="FFFFFF"/>
                </a:solidFill>
                <a:latin typeface="Calibri"/>
              </a:rPr>
              <a:t>RAG do DOERJ</a:t>
            </a:r>
          </a:p>
          <a:p>
            <a:pPr algn="l">
              <a:spcBef>
                <a:spcPts val="1800"/>
              </a:spcBef>
            </a:pPr>
            <a:r>
              <a:rPr sz="2000" b="0" i="0">
                <a:solidFill>
                  <a:srgbClr val="CFDDE7"/>
                </a:solidFill>
                <a:latin typeface="Calibri"/>
              </a:rPr>
              <a:t>IA que le o Diario Oficial do Estado do RJ todos os dias,
extrai os atos de interesse da SEFAZ e entrega tudo pronto para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9FBCD0"/>
                </a:solidFill>
                <a:latin typeface="Calibri"/>
              </a:rPr>
              <a:t>SEFAZ-RJ  ·  MinerU + Claude  ·  100% local, sem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Todo dia util sai um DOERJ novo — e alguem precisa 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3A3A3A"/>
                </a:solidFill>
                <a:latin typeface="Calibri"/>
              </a:rPr>
              <a:t>▪  Volume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     50 a 90 paginas por edicao, em 5 cadernos (Parte I, IB, II, IV e V).</a:t>
            </a:r>
          </a:p>
          <a:p>
            <a:pPr algn="l">
              <a:spcBef>
                <a:spcPts val="1400"/>
              </a:spcBef>
            </a:pPr>
            <a:r>
              <a:rPr sz="1900" b="1" i="0">
                <a:solidFill>
                  <a:srgbClr val="3A3A3A"/>
                </a:solidFill>
                <a:latin typeface="Calibri"/>
              </a:rPr>
              <a:t>▪  Leitura manual e cara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     conferir prazos, nomeacoes, exoneracoes e citacoes a SEFAZ consome horas de servidor todo dia.</a:t>
            </a:r>
          </a:p>
          <a:p>
            <a:pPr algn="l">
              <a:spcBef>
                <a:spcPts val="1400"/>
              </a:spcBef>
            </a:pPr>
            <a:r>
              <a:rPr sz="1900" b="1" i="0">
                <a:solidFill>
                  <a:srgbClr val="3A3A3A"/>
                </a:solidFill>
                <a:latin typeface="Calibri"/>
              </a:rPr>
              <a:t>▪  Risco de perder ato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     um prazo critico ou uma citacao a pessoa monitorada que passa batido vira problema depois.</a:t>
            </a:r>
          </a:p>
          <a:p>
            <a:pPr algn="l">
              <a:spcBef>
                <a:spcPts val="1400"/>
              </a:spcBef>
            </a:pPr>
            <a:r>
              <a:rPr sz="1900" b="1" i="0">
                <a:solidFill>
                  <a:srgbClr val="3A3A3A"/>
                </a:solidFill>
                <a:latin typeface="Calibri"/>
              </a:rPr>
              <a:t>▪  PDF nao e pesquisavel de verdade</a:t>
            </a:r>
          </a:p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     o Diario e multi-coluna: o Ctrl+F do leitor de PDF embaralha a ordem do texto.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A solucao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Um pipeline que roda sozinho + um site de consulta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3A3A3A"/>
                </a:solidFill>
                <a:latin typeface="Calibri"/>
              </a:rPr>
              <a:t>O sistema baixa o Diario, converte o PDF em texto limpo, indexa por pagina e usa IA para extrair os atos relevantes — gravando o resultado no Oracle e em Excel, sem ninguem precisar abrir o PDF.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2" y="3310128"/>
            <a:ext cx="2788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Consulta por IA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Pergunta em portugues no site local.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Resposta em tabela, citando data e pagina.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Download em Excel, JSON ou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3310128"/>
            <a:ext cx="2788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Monitor diario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8 secoes tematicas de interesse da SEFAZ.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Grava no Oracle e gera o Excel do dia.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Roda sozinho, de hora em hora.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10896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11312" y="3310128"/>
            <a:ext cx="2788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Atos de pessoal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Nomeacoes, exoneracoes e afins.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Estruturados e gravados no Oracle.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Palavras-chave configuraveis no banco.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1">
                <a:solidFill>
                  <a:srgbClr val="6E6E6E"/>
                </a:solidFill>
                <a:latin typeface="Calibri"/>
              </a:rPr>
              <a:t>Tudo local, em CPU, dentro da rede da SEFAZ. A unica chamada externa e a API da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Como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Do PDF publicado ate a tabela no Oracle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D6E8F3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Baixa o D.O.
do portal IOERJ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24911" y="2496312"/>
            <a:ext cx="274320" cy="274320"/>
          </a:xfrm>
          <a:prstGeom prst="rightArrow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26663" y="214884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1D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D6E8F3"/>
                </a:solidFill>
                <a:latin typeface="Calibri"/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MinerU extrai
o texto limpo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28614" y="2496312"/>
            <a:ext cx="274320" cy="274320"/>
          </a:xfrm>
          <a:prstGeom prst="rightArrow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30366" y="214884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D6E8F3"/>
                </a:solidFill>
                <a:latin typeface="Calibri"/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Indice de busca
SQLite FTS5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17" y="2496312"/>
            <a:ext cx="274320" cy="274320"/>
          </a:xfrm>
          <a:prstGeom prst="rightArrow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34069" y="214884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1D6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D6E8F3"/>
                </a:solidFill>
                <a:latin typeface="Calibri"/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Claude le e
estrutura em JSON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36020" y="2496312"/>
            <a:ext cx="274320" cy="274320"/>
          </a:xfrm>
          <a:prstGeom prst="rightArrow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37772" y="214884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D6E8F3"/>
                </a:solidFill>
                <a:latin typeface="Calibri"/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Oracle + Excel
+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0B3C5D"/>
                </a:solidFill>
                <a:latin typeface="Calibri"/>
              </a:rPr>
              <a:t>Por que MinerU?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▪  Respeita a ordem de leitura das colunas e as tabelas — o extrator comum embaralha o texto do Diario.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▪  A IA le TEXTO, nao imagem de pagina: mais barato e mais preciso.</a:t>
            </a:r>
          </a:p>
          <a:p>
            <a:pPr algn="l">
              <a:spcBef>
                <a:spcPts val="1800"/>
              </a:spcBef>
            </a:pPr>
            <a:r>
              <a:rPr sz="1900" b="1" i="0">
                <a:solidFill>
                  <a:srgbClr val="0B3C5D"/>
                </a:solidFill>
                <a:latin typeface="Calibri"/>
              </a:rPr>
              <a:t>Por que so parte do Diario vai para a IA?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▪  Um pre-filtro por palavras-chave seleciona so as paginas que citam assunto de interesse — controla o custo sem perder recall.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Funcionalidade 1 — Consulta por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Site local em http://127.0.0.1:5001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3A3A3A"/>
                </a:solidFill>
                <a:latin typeface="Calibri"/>
              </a:rPr>
              <a:t>▪  Pergunta em linguagem natural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E6E6E"/>
                </a:solidFill>
                <a:latin typeface="Calibri"/>
              </a:rPr>
              <a:t>     “Quais atos da Sefaz sairam hoje?”, “quais decretos sairam esta semana?”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3A3A3A"/>
                </a:solidFill>
                <a:latin typeface="Calibri"/>
              </a:rPr>
              <a:t>▪  Escopo por data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E6E6E"/>
                </a:solidFill>
                <a:latin typeface="Calibri"/>
              </a:rPr>
              <a:t>     edicao do dia, uma data especifica ou todas as edicoes indexadas.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3A3A3A"/>
                </a:solidFill>
                <a:latin typeface="Calibri"/>
              </a:rPr>
              <a:t>▪  Resposta estruturada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E6E6E"/>
                </a:solidFill>
                <a:latin typeface="Calibri"/>
              </a:rPr>
              <a:t>     resumo + tabela com Tipo, Numero, Data, Orgao, Pessoa, Cargo, Objeto, Processo, Pagina e Edicao.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3A3A3A"/>
                </a:solidFill>
                <a:latin typeface="Calibri"/>
              </a:rPr>
              <a:t>▪  Conferencia visual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E6E6E"/>
                </a:solidFill>
                <a:latin typeface="Calibri"/>
              </a:rPr>
              <a:t>     miniatura da pagina usada, com o termo marcado em amarelo sobre o texto original.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3A3A3A"/>
                </a:solidFill>
                <a:latin typeface="Calibri"/>
              </a:rPr>
              <a:t>▪  Exportacao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E6E6E"/>
                </a:solidFill>
                <a:latin typeface="Calibri"/>
              </a:rPr>
              <a:t>     Excel, JSON ou PDF em um clique.</a:t>
            </a:r>
          </a:p>
          <a:p>
            <a:pPr algn="l">
              <a:spcBef>
                <a:spcPts val="1400"/>
              </a:spcBef>
            </a:pPr>
            <a:r>
              <a:rPr sz="1800" b="1" i="0">
                <a:solidFill>
                  <a:srgbClr val="3A3A3A"/>
                </a:solidFill>
                <a:latin typeface="Calibri"/>
              </a:rPr>
              <a:t>▪  Atalhos prontos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E6E6E"/>
                </a:solidFill>
                <a:latin typeface="Calibri"/>
              </a:rPr>
              <a:t>     Sefaz, Exoneracoes, Nomeacoes, Atos do Governador, Leis, Decretos, Resolucoes.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Funcionalidade 2 — Monitor diario em 8 secoes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Gerado sem ninguem pedir: Excel do dia + tabela no Oracle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029200" cy="187451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2167128"/>
            <a:ext cx="4572000" cy="1508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Secoes 1 a 4 — Parte I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1 · Prazos criticos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2 · Movimentacoes de pessoal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3 · Nomes monitorados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4 · Observacoes executivas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029200" cy="187451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11112" y="2167128"/>
            <a:ext cx="4572000" cy="1508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Secoes 5 a 8 — demais cadernos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5 · Expediente e ponto facultativo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6 · Tribunal de Contas (Parte IB)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7 · Poder Legislativo (Parte II)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8 · Municipalidades e Pedido (IV-V)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Cada linha traz: tipo do ato, numero/ano, orgao, pessoa, cargo, processo, vigencia, data do ato, prazo, resumo, caderno e pagina.</a:t>
            </a:r>
          </a:p>
          <a:p>
            <a:pPr algn="l">
              <a:spcBef>
                <a:spcPts val="120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A secao 3 varre os 5 cadernos atras das pessoas monitoradas — a lista de nomes vem do Oracle e vale por data de vigencia, entao reprocessar uma edicao antiga usa a lista que valia naquele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Funcionalidade 3 — Roda sozinho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Tarefa agendada do Windows: DOERJ_Pipeline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2121408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Quando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Segunda a sexta, a partir das 08:05.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Repete de hora em hora por 10 horas.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O D.O. nao tem hora fixa de publicacao — por isso a repeticao.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029200" cy="21031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11112" y="2121408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Sem retrabalho e sem custo extra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Cada etapa tem trava de idempotencia.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Edicao ja processada nao volta para a IA.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As execucoes seguintes do dia saem de graca.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 i="0">
                <a:solidFill>
                  <a:srgbClr val="0B3C5D"/>
                </a:solidFill>
                <a:latin typeface="Calibri"/>
              </a:rPr>
              <a:t>Robustez ja embutida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3A3A3A"/>
                </a:solidFill>
                <a:latin typeface="Calibri"/>
              </a:rPr>
              <a:t>▪  Extracao em fatias de 30 paginas — edicoes grandes nao estouram a memoria.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3A3A3A"/>
                </a:solidFill>
                <a:latin typeface="Calibri"/>
              </a:rPr>
              <a:t>▪  Se o Oracle nao responder, o job usa listas de reserva e avisa no log.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3A3A3A"/>
                </a:solidFill>
                <a:latin typeface="Calibri"/>
              </a:rPr>
              <a:t>▪  Limpeza automatica: apaga saida com mais de 30 dias e rotaciona o log.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3A3A3A"/>
                </a:solidFill>
                <a:latin typeface="Calibri"/>
              </a:rPr>
              <a:t>▪  Proxy e inspecao TLS da SEFAZ ja tratados (truststore + NO_PROXY).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Ajuste sem programar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O que o sistema procura fica em tabelas Oracle, nao no codigo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2304288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001B · Atos de pessoal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Verbos acompanhados (nomear, exonerar...).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Um INSERT passa a monitorar um novo tipo de ato.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45152" y="2304288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002B · Pre-filtro de temas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35 termos de interesse hoje.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Define quais paginas vao para a IA — controla custo e cobertura.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2103120"/>
            <a:ext cx="3246120" cy="22860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11312" y="2304288"/>
            <a:ext cx="2788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002N · Nomes monitorados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Pessoas acompanhadas e seus cargos.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Entra em vigor na proxima edicao, sem reiniciar nada.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Nada de apagar linha: usa-se DATA_INI / DATA_FIM. O historico fica preservado e cada edicao e processada com a configuracao que valia na data dela.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Onde ja chegamos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Situacao em julho de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000" b="1" i="0">
                <a:solidFill>
                  <a:srgbClr val="C8A951"/>
                </a:solidFill>
                <a:latin typeface="Calibri"/>
              </a:rPr>
              <a:t>18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edicoes ja
indexadas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0312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000" b="1" i="0">
                <a:solidFill>
                  <a:srgbClr val="C8A951"/>
                </a:solidFill>
                <a:latin typeface="Calibri"/>
              </a:rPr>
              <a:t>1.216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paginas
pesquisaveis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000" b="1" i="0">
                <a:solidFill>
                  <a:srgbClr val="C8A951"/>
                </a:solidFill>
                <a:latin typeface="Calibri"/>
              </a:rPr>
              <a:t>5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cadernos
cobertos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10312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000" b="1" i="0">
                <a:solidFill>
                  <a:srgbClr val="C8A951"/>
                </a:solidFill>
                <a:latin typeface="Calibri"/>
              </a:rPr>
              <a:t>8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secoes no
relatorio diario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▪  Pipeline diario em producao, rodando de segunda a sexta com log e diagnostico proprios.</a:t>
            </a:r>
          </a:p>
          <a:p>
            <a:pPr algn="l">
              <a:spcBef>
                <a:spcPts val="120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▪  Instalacao automatizada (deploy\instalar.bat) e roteiro de implantacao em servidor.</a:t>
            </a:r>
          </a:p>
          <a:p>
            <a:pPr algn="l">
              <a:spcBef>
                <a:spcPts val="1200"/>
              </a:spcBef>
            </a:pPr>
            <a:r>
              <a:rPr sz="1700" b="0" i="0">
                <a:solidFill>
                  <a:srgbClr val="3A3A3A"/>
                </a:solidFill>
                <a:latin typeface="Calibri"/>
              </a:rPr>
              <a:t>▪  Gravacao no Oracle funcionando para atos de pessoal (001A) e monitor (002A).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0B3C5D"/>
                </a:solidFill>
                <a:latin typeface="Calibri"/>
              </a:rPr>
              <a:t>Proximos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07008"/>
            <a:ext cx="1371600" cy="5080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Prioridades sugeridas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2075687"/>
            <a:ext cx="45720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Curto prazo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Subir em servidor, rodando com usuario deslogado.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Alerta por e-mail quando o pipeline falhar ou o D.O. nao sair.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Publicar o site para a equipe (hoje e so local).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74519"/>
            <a:ext cx="5029200" cy="21488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11112" y="2075687"/>
            <a:ext cx="45720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3C5D"/>
                </a:solidFill>
                <a:latin typeface="Calibri"/>
              </a:rPr>
              <a:t>Medio prazo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Resumo diario por e-mail com os achados das 8 secoes.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Carga historica: indexar edicoes anteriores para consulta retroativa.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Painel de acompanhamento de prazos criticos.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78992" y="4315968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D6FA3"/>
                </a:solidFill>
                <a:latin typeface="Calibri"/>
              </a:rPr>
              <a:t>Qualidade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Medir precisao dos achados contra conferencia manual.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Ajuste continuo das palavras-chave (002B) por custo x cobertura.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11480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11112" y="4315968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D6FA3"/>
                </a:solidFill>
                <a:latin typeface="Calibri"/>
              </a:rPr>
              <a:t>Expansao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Cobrir outros temas alem da SEFAZ, sob demanda das areas.</a:t>
            </a:r>
          </a:p>
          <a:p>
            <a:pPr algn="l">
              <a:spcBef>
                <a:spcPts val="700"/>
              </a:spcBef>
            </a:pPr>
            <a:r>
              <a:rPr sz="1400" b="0" i="0">
                <a:solidFill>
                  <a:srgbClr val="3A3A3A"/>
                </a:solidFill>
                <a:latin typeface="Calibri"/>
              </a:rPr>
              <a:t>▪  Integrar com os sistemas que ja consomem as tabelas do Oracle.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8A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424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C8A951"/>
                </a:solidFill>
                <a:latin typeface="Calibri"/>
              </a:rPr>
              <a:t>Em uma frase</a:t>
            </a:r>
          </a:p>
          <a:p>
            <a:pPr algn="l">
              <a:spcBef>
                <a:spcPts val="160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O Diario Oficial deixou de ser
uma leitura diaria e virou
uma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 i="0">
                <a:solidFill>
                  <a:srgbClr val="9FBCD0"/>
                </a:solidFill>
                <a:latin typeface="Calibri"/>
              </a:rPr>
              <a:t>Obrigado · duvidas?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